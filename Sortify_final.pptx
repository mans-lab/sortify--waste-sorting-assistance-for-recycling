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9"/>
  </p:notesMasterIdLst>
  <p:sldIdLst>
    <p:sldId id="256" r:id="rId2"/>
    <p:sldId id="257" r:id="rId3"/>
    <p:sldId id="258" r:id="rId4"/>
    <p:sldId id="259" r:id="rId5"/>
    <p:sldId id="260" r:id="rId6"/>
    <p:sldId id="261" r:id="rId7"/>
    <p:sldId id="262" r:id="rId8"/>
    <p:sldId id="266" r:id="rId9"/>
    <p:sldId id="263" r:id="rId10"/>
    <p:sldId id="269" r:id="rId11"/>
    <p:sldId id="271" r:id="rId12"/>
    <p:sldId id="272" r:id="rId13"/>
    <p:sldId id="273" r:id="rId14"/>
    <p:sldId id="264" r:id="rId15"/>
    <p:sldId id="265" r:id="rId16"/>
    <p:sldId id="267" r:id="rId17"/>
    <p:sldId id="26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F5F6"/>
    <a:srgbClr val="E4EE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1474"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Efficiency</c:v>
                </c:pt>
              </c:strCache>
            </c:strRef>
          </c:tx>
          <c:invertIfNegative val="1"/>
          <c:cat>
            <c:strRef>
              <c:f>Sheet1!$A$2:$A$3</c:f>
              <c:strCache>
                <c:ptCount val="2"/>
                <c:pt idx="0">
                  <c:v>Before Sortify</c:v>
                </c:pt>
                <c:pt idx="1">
                  <c:v>After Sortify</c:v>
                </c:pt>
              </c:strCache>
            </c:strRef>
          </c:cat>
          <c:val>
            <c:numRef>
              <c:f>Sheet1!$B$2:$B$3</c:f>
              <c:numCache>
                <c:formatCode>General</c:formatCode>
                <c:ptCount val="2"/>
                <c:pt idx="0">
                  <c:v>35</c:v>
                </c:pt>
                <c:pt idx="1">
                  <c:v>75</c:v>
                </c:pt>
              </c:numCache>
            </c:numRef>
          </c:val>
          <c:extLst>
            <c:ext xmlns:c16="http://schemas.microsoft.com/office/drawing/2014/chart" uri="{C3380CC4-5D6E-409C-BE32-E72D297353CC}">
              <c16:uniqueId val="{00000000-D5CD-49A7-8C76-940535FE77D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131453-F16B-47AC-A030-784965DB5856}" type="datetimeFigureOut">
              <a:rPr lang="en-IN" smtClean="0"/>
              <a:t>13-03-2026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0CBA4-B34E-4DB8-ABF9-1E79C9E3C8CC}" type="slidenum">
              <a:rPr lang="en-IN" smtClean="0"/>
              <a:t>‹#›</a:t>
            </a:fld>
            <a:endParaRPr lang="en-IN"/>
          </a:p>
        </p:txBody>
      </p:sp>
    </p:spTree>
    <p:extLst>
      <p:ext uri="{BB962C8B-B14F-4D97-AF65-F5344CB8AC3E}">
        <p14:creationId xmlns:p14="http://schemas.microsoft.com/office/powerpoint/2010/main" val="329344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10CBA4-B34E-4DB8-ABF9-1E79C9E3C8CC}" type="slidenum">
              <a:rPr lang="en-IN" smtClean="0"/>
              <a:t>4</a:t>
            </a:fld>
            <a:endParaRPr lang="en-IN"/>
          </a:p>
        </p:txBody>
      </p:sp>
    </p:spTree>
    <p:extLst>
      <p:ext uri="{BB962C8B-B14F-4D97-AF65-F5344CB8AC3E}">
        <p14:creationId xmlns:p14="http://schemas.microsoft.com/office/powerpoint/2010/main" val="3136359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079254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170408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170268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2800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223925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954629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01398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019501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041407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440545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0251985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188505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4765910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974080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882150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871510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3/13/2026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054446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0054" y="2271482"/>
            <a:ext cx="7893698" cy="1320800"/>
          </a:xfrm>
        </p:spPr>
        <p:txBody>
          <a:bodyPr>
            <a:normAutofit/>
          </a:bodyPr>
          <a:lstStyle/>
          <a:p>
            <a:pPr algn="ctr">
              <a:defRPr sz="3600" b="1">
                <a:solidFill>
                  <a:srgbClr val="0066CC"/>
                </a:solidFill>
              </a:defRPr>
            </a:pPr>
            <a:r>
              <a:rPr lang="en-US" sz="4000" dirty="0">
                <a:solidFill>
                  <a:schemeClr val="accent2">
                    <a:lumMod val="60000"/>
                    <a:lumOff val="40000"/>
                  </a:schemeClr>
                </a:solidFill>
                <a:latin typeface="Algerian" panose="04020705040A02060702" pitchFamily="82" charset="0"/>
              </a:rPr>
              <a:t>Waste Sorting Assistance For Recycling</a:t>
            </a:r>
          </a:p>
        </p:txBody>
      </p:sp>
      <p:sp>
        <p:nvSpPr>
          <p:cNvPr id="3" name="TextBox 2"/>
          <p:cNvSpPr txBox="1"/>
          <p:nvPr/>
        </p:nvSpPr>
        <p:spPr>
          <a:xfrm>
            <a:off x="311019" y="3937520"/>
            <a:ext cx="7470926" cy="3139321"/>
          </a:xfrm>
          <a:prstGeom prst="rect">
            <a:avLst/>
          </a:prstGeom>
          <a:noFill/>
        </p:spPr>
        <p:txBody>
          <a:bodyPr wrap="square">
            <a:spAutoFit/>
          </a:bodyPr>
          <a:lstStyle/>
          <a:p>
            <a:pPr algn="just">
              <a:defRPr sz="1800">
                <a:solidFill>
                  <a:srgbClr val="009966"/>
                </a:solidFill>
              </a:defRPr>
            </a:pPr>
            <a:endParaRPr lang="en-US" dirty="0"/>
          </a:p>
          <a:p>
            <a:pPr>
              <a:defRPr sz="1800">
                <a:solidFill>
                  <a:srgbClr val="009966"/>
                </a:solidFill>
              </a:defRPr>
            </a:pPr>
            <a:endParaRPr lang="en-US" dirty="0"/>
          </a:p>
          <a:p>
            <a:pPr>
              <a:defRPr sz="1800">
                <a:solidFill>
                  <a:srgbClr val="009966"/>
                </a:solidFill>
              </a:defRPr>
            </a:pPr>
            <a:endParaRPr lang="en-IN" dirty="0"/>
          </a:p>
          <a:p>
            <a:pPr>
              <a:defRPr sz="1800">
                <a:solidFill>
                  <a:srgbClr val="009966"/>
                </a:solidFill>
              </a:defRPr>
            </a:pPr>
            <a:endParaRPr lang="en-IN" dirty="0"/>
          </a:p>
          <a:p>
            <a:pPr>
              <a:defRPr sz="1800">
                <a:solidFill>
                  <a:srgbClr val="009966"/>
                </a:solidFill>
              </a:defRPr>
            </a:pPr>
            <a:endParaRPr lang="en-IN" dirty="0"/>
          </a:p>
          <a:p>
            <a:pPr>
              <a:defRPr sz="1800">
                <a:solidFill>
                  <a:srgbClr val="009966"/>
                </a:solidFill>
              </a:defRPr>
            </a:pPr>
            <a:r>
              <a:rPr dirty="0">
                <a:solidFill>
                  <a:schemeClr val="accent6">
                    <a:lumMod val="60000"/>
                    <a:lumOff val="40000"/>
                  </a:schemeClr>
                </a:solidFill>
              </a:rPr>
              <a:t>Panchal Mansi</a:t>
            </a:r>
            <a:r>
              <a:rPr lang="en-US" dirty="0">
                <a:solidFill>
                  <a:schemeClr val="accent6">
                    <a:lumMod val="60000"/>
                    <a:lumOff val="40000"/>
                  </a:schemeClr>
                </a:solidFill>
              </a:rPr>
              <a:t> (23BEIT30080)         </a:t>
            </a:r>
            <a:r>
              <a:rPr lang="en-IN" dirty="0">
                <a:solidFill>
                  <a:schemeClr val="accent6">
                    <a:lumMod val="60000"/>
                    <a:lumOff val="40000"/>
                  </a:schemeClr>
                </a:solidFill>
              </a:rPr>
              <a:t>Internal Faculty: Ms. Megha Shah</a:t>
            </a:r>
            <a:endParaRPr dirty="0">
              <a:solidFill>
                <a:schemeClr val="accent6">
                  <a:lumMod val="60000"/>
                  <a:lumOff val="40000"/>
                </a:schemeClr>
              </a:solidFill>
            </a:endParaRPr>
          </a:p>
          <a:p>
            <a:pPr>
              <a:defRPr sz="1800">
                <a:solidFill>
                  <a:srgbClr val="009966"/>
                </a:solidFill>
              </a:defRPr>
            </a:pPr>
            <a:r>
              <a:rPr dirty="0">
                <a:solidFill>
                  <a:schemeClr val="accent6">
                    <a:lumMod val="60000"/>
                    <a:lumOff val="40000"/>
                  </a:schemeClr>
                </a:solidFill>
              </a:rPr>
              <a:t>Pandey Kajal</a:t>
            </a:r>
            <a:r>
              <a:rPr lang="en-US" dirty="0">
                <a:solidFill>
                  <a:schemeClr val="accent6">
                    <a:lumMod val="60000"/>
                    <a:lumOff val="40000"/>
                  </a:schemeClr>
                </a:solidFill>
              </a:rPr>
              <a:t> (23BEIT30082)</a:t>
            </a:r>
            <a:endParaRPr dirty="0">
              <a:solidFill>
                <a:schemeClr val="accent6">
                  <a:lumMod val="60000"/>
                  <a:lumOff val="40000"/>
                </a:schemeClr>
              </a:solidFill>
            </a:endParaRPr>
          </a:p>
          <a:p>
            <a:pPr>
              <a:defRPr sz="1800">
                <a:solidFill>
                  <a:srgbClr val="009966"/>
                </a:solidFill>
              </a:defRPr>
            </a:pPr>
            <a:r>
              <a:rPr dirty="0">
                <a:solidFill>
                  <a:schemeClr val="accent6">
                    <a:lumMod val="60000"/>
                    <a:lumOff val="40000"/>
                  </a:schemeClr>
                </a:solidFill>
              </a:rPr>
              <a:t>Patel Khushi </a:t>
            </a:r>
            <a:r>
              <a:rPr lang="en-US" dirty="0">
                <a:solidFill>
                  <a:schemeClr val="accent6">
                    <a:lumMod val="60000"/>
                    <a:lumOff val="40000"/>
                  </a:schemeClr>
                </a:solidFill>
              </a:rPr>
              <a:t>(23BEIT30118)</a:t>
            </a:r>
            <a:endParaRPr dirty="0">
              <a:solidFill>
                <a:schemeClr val="accent6">
                  <a:lumMod val="60000"/>
                  <a:lumOff val="40000"/>
                </a:schemeClr>
              </a:solidFill>
            </a:endParaRPr>
          </a:p>
          <a:p>
            <a:pPr>
              <a:defRPr sz="1800">
                <a:solidFill>
                  <a:srgbClr val="009966"/>
                </a:solidFill>
              </a:defRPr>
            </a:pPr>
            <a:endParaRPr lang="en-US" dirty="0">
              <a:solidFill>
                <a:schemeClr val="accent6">
                  <a:lumMod val="60000"/>
                  <a:lumOff val="40000"/>
                </a:schemeClr>
              </a:solidFill>
            </a:endParaRPr>
          </a:p>
          <a:p>
            <a:pPr algn="r">
              <a:defRPr sz="1800">
                <a:solidFill>
                  <a:srgbClr val="009966"/>
                </a:solidFill>
              </a:defRPr>
            </a:pPr>
            <a:r>
              <a:rPr lang="en-IN" dirty="0">
                <a:solidFill>
                  <a:schemeClr val="accent6">
                    <a:lumMod val="60000"/>
                    <a:lumOff val="40000"/>
                  </a:schemeClr>
                </a:solidFill>
              </a:rPr>
              <a:t>                                                 </a:t>
            </a:r>
          </a:p>
          <a:p>
            <a:pPr>
              <a:defRPr sz="1800">
                <a:solidFill>
                  <a:srgbClr val="009966"/>
                </a:solidFill>
              </a:defRPr>
            </a:pPr>
            <a:endParaRPr lang="en-IN" dirty="0"/>
          </a:p>
        </p:txBody>
      </p:sp>
      <p:pic>
        <p:nvPicPr>
          <p:cNvPr id="4" name="Picture 3" descr="OIP.jpg"/>
          <p:cNvPicPr>
            <a:picLocks noChangeAspect="1"/>
          </p:cNvPicPr>
          <p:nvPr/>
        </p:nvPicPr>
        <p:blipFill>
          <a:blip r:embed="rId2"/>
          <a:stretch>
            <a:fillRect/>
          </a:stretch>
        </p:blipFill>
        <p:spPr>
          <a:xfrm>
            <a:off x="7892362" y="503238"/>
            <a:ext cx="919480" cy="914400"/>
          </a:xfrm>
          <a:prstGeom prst="rect">
            <a:avLst/>
          </a:prstGeom>
        </p:spPr>
      </p:pic>
      <p:sp>
        <p:nvSpPr>
          <p:cNvPr id="11" name="TextBox 10">
            <a:extLst>
              <a:ext uri="{FF2B5EF4-FFF2-40B4-BE49-F238E27FC236}">
                <a16:creationId xmlns:a16="http://schemas.microsoft.com/office/drawing/2014/main" id="{5B525B0D-673C-1692-DBD9-D91D2D39C048}"/>
              </a:ext>
            </a:extLst>
          </p:cNvPr>
          <p:cNvSpPr txBox="1"/>
          <p:nvPr/>
        </p:nvSpPr>
        <p:spPr>
          <a:xfrm>
            <a:off x="-194739" y="438166"/>
            <a:ext cx="8546841" cy="646331"/>
          </a:xfrm>
          <a:prstGeom prst="rect">
            <a:avLst/>
          </a:prstGeom>
          <a:noFill/>
        </p:spPr>
        <p:txBody>
          <a:bodyPr wrap="square">
            <a:spAutoFit/>
          </a:bodyPr>
          <a:lstStyle/>
          <a:p>
            <a:pPr algn="ctr">
              <a:defRPr sz="1800">
                <a:solidFill>
                  <a:srgbClr val="009966"/>
                </a:solidFill>
              </a:defRPr>
            </a:pPr>
            <a:r>
              <a:rPr lang="en-US" sz="1800" dirty="0">
                <a:solidFill>
                  <a:srgbClr val="0070C0"/>
                </a:solidFill>
              </a:rPr>
              <a:t>BE – IT</a:t>
            </a:r>
          </a:p>
          <a:p>
            <a:pPr algn="ctr">
              <a:defRPr sz="1800">
                <a:solidFill>
                  <a:srgbClr val="009966"/>
                </a:solidFill>
              </a:defRPr>
            </a:pPr>
            <a:r>
              <a:rPr lang="en-US" sz="1800" dirty="0">
                <a:solidFill>
                  <a:srgbClr val="0070C0"/>
                </a:solidFill>
              </a:rPr>
              <a:t>LDRP Institute of Technology &amp; Research</a:t>
            </a:r>
          </a:p>
        </p:txBody>
      </p:sp>
      <p:pic>
        <p:nvPicPr>
          <p:cNvPr id="5" name="Picture 4">
            <a:extLst>
              <a:ext uri="{FF2B5EF4-FFF2-40B4-BE49-F238E27FC236}">
                <a16:creationId xmlns:a16="http://schemas.microsoft.com/office/drawing/2014/main" id="{50E980E9-F333-B47E-3820-84ED3E75A2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482" y="508493"/>
            <a:ext cx="850975" cy="8739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Abstract</a:t>
            </a:r>
          </a:p>
        </p:txBody>
      </p:sp>
      <p:sp>
        <p:nvSpPr>
          <p:cNvPr id="3" name="Content Placeholder 2"/>
          <p:cNvSpPr>
            <a:spLocks noGrp="1"/>
          </p:cNvSpPr>
          <p:nvPr>
            <p:ph idx="1"/>
          </p:nvPr>
        </p:nvSpPr>
        <p:spPr/>
        <p:txBody>
          <a:bodyPr/>
          <a:lstStyle/>
          <a:p>
            <a:pPr>
              <a:defRPr sz="1800"/>
            </a:pPr>
            <a:r>
              <a:rPr sz="2000" dirty="0" err="1"/>
              <a:t>Sortify</a:t>
            </a:r>
            <a:r>
              <a:rPr sz="2000" dirty="0"/>
              <a:t> is a digital platform that helps users sort waste easily and recycle correctly.</a:t>
            </a:r>
            <a:endParaRPr lang="en-US" sz="2000" dirty="0"/>
          </a:p>
          <a:p>
            <a:pPr>
              <a:defRPr sz="1800"/>
            </a:pPr>
            <a:r>
              <a:rPr sz="2000" dirty="0"/>
              <a:t> It connects households with recycling centers and promotes eco‑friendly habits.</a:t>
            </a:r>
            <a:endParaRPr lang="en-US" sz="2000" dirty="0"/>
          </a:p>
          <a:p>
            <a:pPr>
              <a:defRPr sz="1800"/>
            </a:pPr>
            <a:r>
              <a:rPr lang="en-US" sz="2000" dirty="0"/>
              <a:t>Digitize waste management, offering disposal guides anytime, anywhere.​</a:t>
            </a:r>
            <a:endParaRPr lang="en-IN" sz="2000" dirty="0"/>
          </a:p>
          <a:p>
            <a:pPr>
              <a:defRPr sz="1800"/>
            </a:pPr>
            <a:r>
              <a:rPr lang="en-US" sz="2000" dirty="0"/>
              <a:t>It provides smart guidance for identifying recyclable materials, reducing pollution, and promoting sustainable habits across India.​</a:t>
            </a:r>
            <a:endParaRPr lang="en-US" sz="2000" b="1" dirty="0"/>
          </a:p>
          <a:p>
            <a:pPr>
              <a:defRPr sz="1800"/>
            </a:pPr>
            <a:endParaRPr dirty="0"/>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Problem Statement</a:t>
            </a:r>
          </a:p>
        </p:txBody>
      </p:sp>
      <p:sp>
        <p:nvSpPr>
          <p:cNvPr id="3" name="Content Placeholder 2"/>
          <p:cNvSpPr>
            <a:spLocks noGrp="1"/>
          </p:cNvSpPr>
          <p:nvPr>
            <p:ph idx="1"/>
          </p:nvPr>
        </p:nvSpPr>
        <p:spPr/>
        <p:txBody>
          <a:bodyPr>
            <a:normAutofit/>
          </a:bodyPr>
          <a:lstStyle/>
          <a:p>
            <a:pPr>
              <a:defRPr sz="1800"/>
            </a:pPr>
            <a:r>
              <a:rPr sz="2000" dirty="0"/>
              <a:t> Waste is mixed</a:t>
            </a:r>
            <a:r>
              <a:rPr lang="en-US" sz="2000" dirty="0"/>
              <a:t> :</a:t>
            </a:r>
          </a:p>
          <a:p>
            <a:pPr marL="0" indent="0">
              <a:buNone/>
              <a:defRPr sz="1800"/>
            </a:pPr>
            <a:r>
              <a:rPr lang="en-US" sz="2000" dirty="0"/>
              <a:t> Indians don’t have the proper knowledge about the          waste segregation.</a:t>
            </a:r>
          </a:p>
          <a:p>
            <a:pPr>
              <a:defRPr sz="1800"/>
            </a:pPr>
            <a:r>
              <a:rPr sz="2000" dirty="0"/>
              <a:t> People don’t sort</a:t>
            </a:r>
            <a:r>
              <a:rPr lang="en-US" sz="2000" dirty="0"/>
              <a:t> in the dedicated bins.</a:t>
            </a:r>
          </a:p>
          <a:p>
            <a:pPr>
              <a:defRPr sz="1800"/>
            </a:pPr>
            <a:r>
              <a:rPr sz="2000" dirty="0"/>
              <a:t> Recyclables get contaminated</a:t>
            </a:r>
          </a:p>
          <a:p>
            <a:pPr marL="0" indent="0">
              <a:buNone/>
              <a:defRPr sz="1800"/>
            </a:pPr>
            <a:r>
              <a:rPr sz="2000" dirty="0"/>
              <a:t> No simple guidance</a:t>
            </a:r>
            <a:r>
              <a:rPr lang="en-US" sz="2000" dirty="0"/>
              <a:t> as there are no such proper instructions provided as of which waste should be disposed in which bin.</a:t>
            </a:r>
            <a:endParaRPr sz="2000" dirty="0"/>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Aim</a:t>
            </a:r>
          </a:p>
        </p:txBody>
      </p:sp>
      <p:sp>
        <p:nvSpPr>
          <p:cNvPr id="3" name="Content Placeholder 2"/>
          <p:cNvSpPr>
            <a:spLocks noGrp="1"/>
          </p:cNvSpPr>
          <p:nvPr>
            <p:ph idx="1"/>
          </p:nvPr>
        </p:nvSpPr>
        <p:spPr>
          <a:xfrm>
            <a:off x="609599" y="1595536"/>
            <a:ext cx="6347714" cy="4935894"/>
          </a:xfrm>
        </p:spPr>
        <p:txBody>
          <a:bodyPr>
            <a:normAutofit/>
          </a:bodyPr>
          <a:lstStyle/>
          <a:p>
            <a:pPr>
              <a:defRPr sz="1800"/>
            </a:pPr>
            <a:r>
              <a:rPr b="1" dirty="0"/>
              <a:t>To build a beginner‑friendly platform </a:t>
            </a:r>
            <a:r>
              <a:rPr lang="en-US" dirty="0"/>
              <a:t>(T</a:t>
            </a:r>
            <a:r>
              <a:rPr dirty="0"/>
              <a:t>hat simplifies waste sorting and supports recycling.</a:t>
            </a:r>
            <a:r>
              <a:rPr lang="en-US" dirty="0"/>
              <a:t>)</a:t>
            </a:r>
          </a:p>
          <a:p>
            <a:pPr>
              <a:defRPr sz="1800"/>
            </a:pPr>
            <a:endParaRPr lang="en-US" dirty="0"/>
          </a:p>
          <a:p>
            <a:pPr>
              <a:defRPr sz="1800"/>
            </a:pPr>
            <a:r>
              <a:rPr lang="en-US" b="1" dirty="0"/>
              <a:t>Reduce Pollution </a:t>
            </a:r>
            <a:r>
              <a:rPr lang="en-US" dirty="0"/>
              <a:t>(Minimize mixed waste in landfills.)</a:t>
            </a:r>
          </a:p>
          <a:p>
            <a:pPr>
              <a:defRPr sz="1800"/>
            </a:pPr>
            <a:endParaRPr lang="en-US" dirty="0"/>
          </a:p>
          <a:p>
            <a:pPr>
              <a:defRPr sz="1800"/>
            </a:pPr>
            <a:r>
              <a:rPr lang="en-US" b="1" dirty="0"/>
              <a:t>Bridge Knowledge Gap </a:t>
            </a:r>
            <a:r>
              <a:rPr lang="en-US" dirty="0"/>
              <a:t>(Centralized, beginner-friendly info hub.)</a:t>
            </a:r>
          </a:p>
          <a:p>
            <a:pPr>
              <a:defRPr sz="1800"/>
            </a:pPr>
            <a:endParaRPr lang="en-US" dirty="0"/>
          </a:p>
          <a:p>
            <a:pPr>
              <a:defRPr sz="1800"/>
            </a:pPr>
            <a:r>
              <a:rPr lang="en-US" b="1" dirty="0"/>
              <a:t>Enhance Accessibility </a:t>
            </a:r>
            <a:r>
              <a:rPr lang="en-US" dirty="0"/>
              <a:t>(Disposal guides anytime, anywhere.)</a:t>
            </a:r>
          </a:p>
          <a:p>
            <a:pPr>
              <a:defRPr sz="1800"/>
            </a:pPr>
            <a:endParaRPr lang="en-US" dirty="0"/>
          </a:p>
          <a:p>
            <a:pPr>
              <a:defRPr sz="1800"/>
            </a:pPr>
            <a:r>
              <a:rPr lang="en-US" b="1" dirty="0"/>
              <a:t>Support Local Ecosystems </a:t>
            </a:r>
            <a:r>
              <a:rPr lang="en-US" dirty="0"/>
              <a:t>(Connect users with local recycling centers.)</a:t>
            </a:r>
            <a:endParaRPr dirty="0"/>
          </a:p>
        </p:txBody>
      </p:sp>
      <p:pic>
        <p:nvPicPr>
          <p:cNvPr id="4" name="Picture 3" descr="OIP.jpg"/>
          <p:cNvPicPr>
            <a:picLocks noChangeAspect="1"/>
          </p:cNvPicPr>
          <p:nvPr/>
        </p:nvPicPr>
        <p:blipFill>
          <a:blip r:embed="rId3"/>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Objectives</a:t>
            </a:r>
          </a:p>
        </p:txBody>
      </p:sp>
      <p:sp>
        <p:nvSpPr>
          <p:cNvPr id="3" name="Content Placeholder 2"/>
          <p:cNvSpPr>
            <a:spLocks noGrp="1"/>
          </p:cNvSpPr>
          <p:nvPr>
            <p:ph idx="1"/>
          </p:nvPr>
        </p:nvSpPr>
        <p:spPr>
          <a:xfrm>
            <a:off x="609598" y="1815358"/>
            <a:ext cx="6347714" cy="3880773"/>
          </a:xfrm>
        </p:spPr>
        <p:txBody>
          <a:bodyPr>
            <a:normAutofit/>
          </a:bodyPr>
          <a:lstStyle/>
          <a:p>
            <a:pPr>
              <a:defRPr sz="1800"/>
            </a:pPr>
            <a:r>
              <a:rPr sz="2400" dirty="0"/>
              <a:t> Easy categorization</a:t>
            </a:r>
          </a:p>
          <a:p>
            <a:pPr>
              <a:defRPr sz="1800"/>
            </a:pPr>
            <a:r>
              <a:rPr sz="2400" dirty="0"/>
              <a:t> Reduce landfill waste</a:t>
            </a:r>
          </a:p>
          <a:p>
            <a:pPr>
              <a:defRPr sz="1800"/>
            </a:pPr>
            <a:r>
              <a:rPr sz="2400" dirty="0"/>
              <a:t> Recycling guidance</a:t>
            </a:r>
          </a:p>
          <a:p>
            <a:pPr>
              <a:defRPr sz="1800"/>
            </a:pPr>
            <a:r>
              <a:rPr sz="2400" dirty="0"/>
              <a:t> Local centers</a:t>
            </a:r>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Proposed Solution</a:t>
            </a:r>
          </a:p>
        </p:txBody>
      </p:sp>
      <p:sp>
        <p:nvSpPr>
          <p:cNvPr id="3" name="Content Placeholder 2"/>
          <p:cNvSpPr>
            <a:spLocks noGrp="1"/>
          </p:cNvSpPr>
          <p:nvPr>
            <p:ph idx="1"/>
          </p:nvPr>
        </p:nvSpPr>
        <p:spPr>
          <a:xfrm>
            <a:off x="609599" y="1847461"/>
            <a:ext cx="6347714" cy="3080139"/>
          </a:xfrm>
        </p:spPr>
        <p:txBody>
          <a:bodyPr>
            <a:normAutofit/>
          </a:bodyPr>
          <a:lstStyle/>
          <a:p>
            <a:pPr>
              <a:defRPr sz="1800"/>
            </a:pPr>
            <a:r>
              <a:rPr sz="2000" dirty="0"/>
              <a:t>Web platform for waste identification, disposal guidance and recycling mapping.</a:t>
            </a:r>
            <a:endParaRPr lang="en-US" sz="2000" dirty="0"/>
          </a:p>
          <a:p>
            <a:pPr>
              <a:defRPr sz="1800"/>
            </a:pPr>
            <a:endParaRPr lang="en-IN" sz="2000" dirty="0"/>
          </a:p>
          <a:p>
            <a:pPr>
              <a:defRPr sz="1800"/>
            </a:pPr>
            <a:r>
              <a:rPr lang="en-US" sz="2000" dirty="0"/>
              <a:t>Educating the community on the importance of waste segregation.</a:t>
            </a:r>
          </a:p>
          <a:p>
            <a:pPr>
              <a:defRPr sz="1800"/>
            </a:pPr>
            <a:endParaRPr lang="en-IN" sz="2000" dirty="0"/>
          </a:p>
          <a:p>
            <a:pPr>
              <a:defRPr sz="1800"/>
            </a:pPr>
            <a:r>
              <a:rPr lang="en-IN" sz="2000" dirty="0"/>
              <a:t>Connecting users through the AI.</a:t>
            </a:r>
            <a:endParaRPr sz="2000" dirty="0"/>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Key Features</a:t>
            </a:r>
          </a:p>
        </p:txBody>
      </p:sp>
      <p:sp>
        <p:nvSpPr>
          <p:cNvPr id="3" name="Content Placeholder 2"/>
          <p:cNvSpPr>
            <a:spLocks noGrp="1"/>
          </p:cNvSpPr>
          <p:nvPr>
            <p:ph idx="1"/>
          </p:nvPr>
        </p:nvSpPr>
        <p:spPr>
          <a:xfrm>
            <a:off x="609599" y="1427584"/>
            <a:ext cx="6347714" cy="4898571"/>
          </a:xfrm>
        </p:spPr>
        <p:txBody>
          <a:bodyPr>
            <a:normAutofit/>
          </a:bodyPr>
          <a:lstStyle/>
          <a:p>
            <a:pPr>
              <a:defRPr sz="1800"/>
            </a:pPr>
            <a:r>
              <a:rPr dirty="0"/>
              <a:t> </a:t>
            </a:r>
            <a:r>
              <a:rPr b="1" dirty="0"/>
              <a:t>Smart categories</a:t>
            </a:r>
            <a:r>
              <a:rPr lang="en-US" b="1" dirty="0"/>
              <a:t> </a:t>
            </a:r>
            <a:r>
              <a:rPr lang="en-US" dirty="0"/>
              <a:t>:</a:t>
            </a:r>
          </a:p>
          <a:p>
            <a:pPr marL="0" indent="0">
              <a:buNone/>
              <a:defRPr sz="1800"/>
            </a:pPr>
            <a:r>
              <a:rPr lang="en-US" dirty="0"/>
              <a:t>Smart Categories refers to an automated classification system that intelligently organizes waste into specific streams—such as sanitary pads, wipes, diapers, paper cups and metal—to prevent contamination and ensure each material is sent to the correct recycling facility.</a:t>
            </a:r>
            <a:endParaRPr dirty="0"/>
          </a:p>
          <a:p>
            <a:pPr>
              <a:defRPr sz="1800"/>
            </a:pPr>
            <a:endParaRPr lang="en-US" dirty="0"/>
          </a:p>
          <a:p>
            <a:pPr>
              <a:defRPr sz="1800"/>
            </a:pPr>
            <a:r>
              <a:rPr b="1" dirty="0"/>
              <a:t>Search disposal guide</a:t>
            </a:r>
            <a:r>
              <a:rPr lang="en-US" b="1" dirty="0"/>
              <a:t> </a:t>
            </a:r>
            <a:r>
              <a:rPr lang="en-US" dirty="0"/>
              <a:t>:</a:t>
            </a:r>
          </a:p>
          <a:p>
            <a:pPr marL="0" indent="0">
              <a:buNone/>
              <a:defRPr sz="1800"/>
            </a:pPr>
            <a:r>
              <a:rPr lang="en-US" dirty="0"/>
              <a:t>'what is this?' and 'where does it go?'</a:t>
            </a:r>
            <a:endParaRPr dirty="0"/>
          </a:p>
          <a:p>
            <a:pPr>
              <a:defRPr sz="1800"/>
            </a:pPr>
            <a:endParaRPr lang="en-US" dirty="0"/>
          </a:p>
          <a:p>
            <a:pPr>
              <a:defRPr sz="1800"/>
            </a:pPr>
            <a:r>
              <a:rPr dirty="0"/>
              <a:t> </a:t>
            </a:r>
            <a:r>
              <a:rPr b="1" dirty="0"/>
              <a:t>Simple UI</a:t>
            </a:r>
            <a:r>
              <a:rPr lang="en-US" b="1" dirty="0"/>
              <a:t> </a:t>
            </a:r>
            <a:endParaRPr b="1" dirty="0"/>
          </a:p>
          <a:p>
            <a:pPr>
              <a:defRPr sz="1800"/>
            </a:pPr>
            <a:endParaRPr lang="en-US" dirty="0"/>
          </a:p>
          <a:p>
            <a:pPr>
              <a:defRPr sz="1800"/>
            </a:pPr>
            <a:r>
              <a:rPr b="1" dirty="0"/>
              <a:t> Local recycling information</a:t>
            </a:r>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lang="en-US" dirty="0"/>
              <a:t>Project</a:t>
            </a:r>
            <a:r>
              <a:rPr dirty="0"/>
              <a:t> Working Flow</a:t>
            </a:r>
          </a:p>
        </p:txBody>
      </p:sp>
      <p:sp>
        <p:nvSpPr>
          <p:cNvPr id="3" name="Rounded Rectangle 2"/>
          <p:cNvSpPr/>
          <p:nvPr/>
        </p:nvSpPr>
        <p:spPr>
          <a:xfrm>
            <a:off x="609599" y="1865539"/>
            <a:ext cx="1828800" cy="914400"/>
          </a:xfrm>
          <a:prstGeom prst="roundRect">
            <a:avLst/>
          </a:prstGeom>
          <a:solidFill>
            <a:srgbClr val="009966"/>
          </a:solidFill>
        </p:spPr>
        <p:style>
          <a:lnRef idx="1">
            <a:schemeClr val="accent1"/>
          </a:lnRef>
          <a:fillRef idx="3">
            <a:schemeClr val="accent1"/>
          </a:fillRef>
          <a:effectRef idx="2">
            <a:schemeClr val="accent1"/>
          </a:effectRef>
          <a:fontRef idx="minor">
            <a:schemeClr val="lt1"/>
          </a:fontRef>
        </p:style>
        <p:txBody>
          <a:bodyPr rtlCol="0" anchor="ctr"/>
          <a:lstStyle/>
          <a:p>
            <a:r>
              <a:rPr dirty="0"/>
              <a:t>User Uploads Waste</a:t>
            </a:r>
          </a:p>
        </p:txBody>
      </p:sp>
      <p:sp>
        <p:nvSpPr>
          <p:cNvPr id="4" name="Rounded Rectangle 3"/>
          <p:cNvSpPr/>
          <p:nvPr/>
        </p:nvSpPr>
        <p:spPr>
          <a:xfrm>
            <a:off x="2052735" y="3186339"/>
            <a:ext cx="1828800" cy="914400"/>
          </a:xfrm>
          <a:prstGeom prst="roundRect">
            <a:avLst/>
          </a:prstGeom>
          <a:solidFill>
            <a:srgbClr val="009966"/>
          </a:solidFill>
        </p:spPr>
        <p:style>
          <a:lnRef idx="1">
            <a:schemeClr val="accent1"/>
          </a:lnRef>
          <a:fillRef idx="3">
            <a:schemeClr val="accent1"/>
          </a:fillRef>
          <a:effectRef idx="2">
            <a:schemeClr val="accent1"/>
          </a:effectRef>
          <a:fontRef idx="minor">
            <a:schemeClr val="lt1"/>
          </a:fontRef>
        </p:style>
        <p:txBody>
          <a:bodyPr rtlCol="0" anchor="ctr"/>
          <a:lstStyle/>
          <a:p>
            <a:r>
              <a:rPr dirty="0" err="1"/>
              <a:t>Sortify</a:t>
            </a:r>
            <a:r>
              <a:rPr dirty="0"/>
              <a:t> Identifies</a:t>
            </a:r>
          </a:p>
        </p:txBody>
      </p:sp>
      <p:sp>
        <p:nvSpPr>
          <p:cNvPr id="5" name="Rounded Rectangle 4"/>
          <p:cNvSpPr/>
          <p:nvPr/>
        </p:nvSpPr>
        <p:spPr>
          <a:xfrm>
            <a:off x="3495871" y="4322020"/>
            <a:ext cx="1828800" cy="914400"/>
          </a:xfrm>
          <a:prstGeom prst="roundRect">
            <a:avLst/>
          </a:prstGeom>
          <a:solidFill>
            <a:srgbClr val="009966"/>
          </a:solidFill>
        </p:spPr>
        <p:style>
          <a:lnRef idx="1">
            <a:schemeClr val="accent1"/>
          </a:lnRef>
          <a:fillRef idx="3">
            <a:schemeClr val="accent1"/>
          </a:fillRef>
          <a:effectRef idx="2">
            <a:schemeClr val="accent1"/>
          </a:effectRef>
          <a:fontRef idx="minor">
            <a:schemeClr val="lt1"/>
          </a:fontRef>
        </p:style>
        <p:txBody>
          <a:bodyPr rtlCol="0" anchor="ctr"/>
          <a:lstStyle/>
          <a:p>
            <a:r>
              <a:rPr dirty="0"/>
              <a:t>Category Shown</a:t>
            </a:r>
          </a:p>
        </p:txBody>
      </p:sp>
      <p:sp>
        <p:nvSpPr>
          <p:cNvPr id="6" name="Rounded Rectangle 5"/>
          <p:cNvSpPr/>
          <p:nvPr/>
        </p:nvSpPr>
        <p:spPr>
          <a:xfrm>
            <a:off x="4836368" y="5502409"/>
            <a:ext cx="1828800" cy="914400"/>
          </a:xfrm>
          <a:prstGeom prst="roundRect">
            <a:avLst/>
          </a:prstGeom>
          <a:solidFill>
            <a:srgbClr val="009966"/>
          </a:solidFill>
        </p:spPr>
        <p:style>
          <a:lnRef idx="1">
            <a:schemeClr val="accent1"/>
          </a:lnRef>
          <a:fillRef idx="3">
            <a:schemeClr val="accent1"/>
          </a:fillRef>
          <a:effectRef idx="2">
            <a:schemeClr val="accent1"/>
          </a:effectRef>
          <a:fontRef idx="minor">
            <a:schemeClr val="lt1"/>
          </a:fontRef>
        </p:style>
        <p:txBody>
          <a:bodyPr rtlCol="0" anchor="ctr"/>
          <a:lstStyle/>
          <a:p>
            <a:r>
              <a:rPr dirty="0"/>
              <a:t>Recycling Center</a:t>
            </a:r>
          </a:p>
        </p:txBody>
      </p:sp>
      <p:pic>
        <p:nvPicPr>
          <p:cNvPr id="7" name="Picture 6" descr="OIP.jpg"/>
          <p:cNvPicPr>
            <a:picLocks noChangeAspect="1"/>
          </p:cNvPicPr>
          <p:nvPr/>
        </p:nvPicPr>
        <p:blipFill>
          <a:blip r:embed="rId2"/>
          <a:stretch>
            <a:fillRect/>
          </a:stretch>
        </p:blipFill>
        <p:spPr>
          <a:xfrm>
            <a:off x="7498079" y="182880"/>
            <a:ext cx="919480" cy="914400"/>
          </a:xfrm>
          <a:prstGeom prst="rect">
            <a:avLst/>
          </a:prstGeom>
        </p:spPr>
      </p:pic>
      <p:cxnSp>
        <p:nvCxnSpPr>
          <p:cNvPr id="24" name="Connector: Elbow 23">
            <a:extLst>
              <a:ext uri="{FF2B5EF4-FFF2-40B4-BE49-F238E27FC236}">
                <a16:creationId xmlns:a16="http://schemas.microsoft.com/office/drawing/2014/main" id="{4A7CA795-6134-6DC1-57FA-36CC4422DB0E}"/>
              </a:ext>
            </a:extLst>
          </p:cNvPr>
          <p:cNvCxnSpPr>
            <a:cxnSpLocks/>
          </p:cNvCxnSpPr>
          <p:nvPr/>
        </p:nvCxnSpPr>
        <p:spPr>
          <a:xfrm rot="16200000" flipH="1">
            <a:off x="1426773" y="2849692"/>
            <a:ext cx="723188" cy="528736"/>
          </a:xfrm>
          <a:prstGeom prst="bentConnector3">
            <a:avLst>
              <a:gd name="adj1" fmla="val 96447"/>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441568CD-E967-4B41-09DC-D24A7BA0083B}"/>
              </a:ext>
            </a:extLst>
          </p:cNvPr>
          <p:cNvCxnSpPr>
            <a:cxnSpLocks/>
          </p:cNvCxnSpPr>
          <p:nvPr/>
        </p:nvCxnSpPr>
        <p:spPr>
          <a:xfrm rot="16200000" flipH="1">
            <a:off x="2869909" y="4231594"/>
            <a:ext cx="723188" cy="528736"/>
          </a:xfrm>
          <a:prstGeom prst="bentConnector3">
            <a:avLst>
              <a:gd name="adj1" fmla="val 96447"/>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334D023B-FA79-D6F8-693D-D6FB30AB7AAC}"/>
              </a:ext>
            </a:extLst>
          </p:cNvPr>
          <p:cNvCxnSpPr>
            <a:cxnSpLocks/>
          </p:cNvCxnSpPr>
          <p:nvPr/>
        </p:nvCxnSpPr>
        <p:spPr>
          <a:xfrm rot="16200000" flipH="1">
            <a:off x="4210406" y="5333646"/>
            <a:ext cx="723188" cy="528736"/>
          </a:xfrm>
          <a:prstGeom prst="bentConnector3">
            <a:avLst>
              <a:gd name="adj1" fmla="val 96447"/>
            </a:avLst>
          </a:prstGeom>
          <a:ln w="508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Technologies</a:t>
            </a:r>
          </a:p>
        </p:txBody>
      </p:sp>
      <p:sp>
        <p:nvSpPr>
          <p:cNvPr id="3" name="Content Placeholder 2"/>
          <p:cNvSpPr>
            <a:spLocks noGrp="1"/>
          </p:cNvSpPr>
          <p:nvPr>
            <p:ph idx="1"/>
          </p:nvPr>
        </p:nvSpPr>
        <p:spPr>
          <a:xfrm>
            <a:off x="609599" y="1862010"/>
            <a:ext cx="6347714" cy="3880773"/>
          </a:xfrm>
        </p:spPr>
        <p:txBody>
          <a:bodyPr>
            <a:normAutofit/>
          </a:bodyPr>
          <a:lstStyle/>
          <a:p>
            <a:pPr>
              <a:defRPr sz="1800"/>
            </a:pPr>
            <a:r>
              <a:rPr sz="2000" dirty="0"/>
              <a:t>Frontend: HTML, CSS, JS</a:t>
            </a:r>
            <a:r>
              <a:rPr lang="en-US" sz="2000" dirty="0"/>
              <a:t> for accessible UI and  interactive elements.​</a:t>
            </a:r>
            <a:endParaRPr sz="2000" dirty="0"/>
          </a:p>
          <a:p>
            <a:pPr>
              <a:defRPr sz="1800"/>
            </a:pPr>
            <a:endParaRPr lang="en-US" sz="2000" dirty="0"/>
          </a:p>
          <a:p>
            <a:pPr>
              <a:defRPr sz="1800"/>
            </a:pPr>
            <a:r>
              <a:rPr sz="2000" dirty="0"/>
              <a:t>Backend: Python </a:t>
            </a:r>
            <a:r>
              <a:rPr lang="en-US" sz="2000" dirty="0"/>
              <a:t>/ C , C++ for logic processing and API integration (e.g. AI for waste identification).​</a:t>
            </a:r>
            <a:endParaRPr sz="2000" dirty="0"/>
          </a:p>
          <a:p>
            <a:pPr>
              <a:defRPr sz="1800"/>
            </a:pPr>
            <a:endParaRPr lang="en-US" sz="2000" dirty="0"/>
          </a:p>
          <a:p>
            <a:pPr>
              <a:defRPr sz="1800"/>
            </a:pPr>
            <a:r>
              <a:rPr sz="2000" dirty="0"/>
              <a:t>Database: SQL</a:t>
            </a:r>
            <a:r>
              <a:rPr lang="en-US" sz="2000" dirty="0"/>
              <a:t> for managing user data, recycling centers, and material types.</a:t>
            </a:r>
            <a:endParaRPr sz="2000" dirty="0"/>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5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FCDD-8F2B-0FC6-0E5E-128784352685}"/>
              </a:ext>
            </a:extLst>
          </p:cNvPr>
          <p:cNvSpPr>
            <a:spLocks noGrp="1"/>
          </p:cNvSpPr>
          <p:nvPr>
            <p:ph type="ctrTitle"/>
          </p:nvPr>
        </p:nvSpPr>
        <p:spPr>
          <a:xfrm>
            <a:off x="804025" y="95541"/>
            <a:ext cx="5826719" cy="1646302"/>
          </a:xfrm>
        </p:spPr>
        <p:txBody>
          <a:bodyPr/>
          <a:lstStyle/>
          <a:p>
            <a:pPr algn="l"/>
            <a:r>
              <a:rPr lang="en-US" sz="4800" dirty="0">
                <a:solidFill>
                  <a:srgbClr val="0070C0"/>
                </a:solidFill>
              </a:rPr>
              <a:t>Algorithms Used </a:t>
            </a:r>
            <a:endParaRPr lang="en-IN" sz="4800" dirty="0">
              <a:solidFill>
                <a:srgbClr val="0070C0"/>
              </a:solidFill>
            </a:endParaRPr>
          </a:p>
        </p:txBody>
      </p:sp>
      <p:sp>
        <p:nvSpPr>
          <p:cNvPr id="4" name="Rectangle 1">
            <a:extLst>
              <a:ext uri="{FF2B5EF4-FFF2-40B4-BE49-F238E27FC236}">
                <a16:creationId xmlns:a16="http://schemas.microsoft.com/office/drawing/2014/main" id="{87CCFC62-535D-E5B8-4D22-1BB6319EA63A}"/>
              </a:ext>
            </a:extLst>
          </p:cNvPr>
          <p:cNvSpPr>
            <a:spLocks noGrp="1" noChangeArrowheads="1"/>
          </p:cNvSpPr>
          <p:nvPr>
            <p:ph type="subTitle" idx="1"/>
          </p:nvPr>
        </p:nvSpPr>
        <p:spPr bwMode="auto">
          <a:xfrm>
            <a:off x="1167918" y="2335718"/>
            <a:ext cx="412587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l" defTabSz="914400" eaLnBrk="0" fontAlgn="base" hangingPunct="0">
              <a:spcBef>
                <a:spcPct val="0"/>
              </a:spcBef>
              <a:spcAft>
                <a:spcPct val="0"/>
              </a:spcAft>
              <a:buClrTx/>
              <a:buSzTx/>
            </a:pPr>
            <a:r>
              <a:rPr lang="en-US" altLang="en-US" sz="2800" dirty="0">
                <a:solidFill>
                  <a:srgbClr val="0070C0"/>
                </a:solidFill>
              </a:rPr>
              <a:t>Classification Algorithms</a:t>
            </a:r>
          </a:p>
          <a:p>
            <a:pPr lvl="0" algn="l" defTabSz="914400" eaLnBrk="0" fontAlgn="base" hangingPunct="0">
              <a:spcBef>
                <a:spcPct val="0"/>
              </a:spcBef>
              <a:spcAft>
                <a:spcPct val="0"/>
              </a:spcAft>
              <a:buClrTx/>
              <a:buSzTx/>
            </a:pPr>
            <a:endParaRPr lang="en-US" altLang="en-US" sz="2800" dirty="0">
              <a:solidFill>
                <a:srgbClr val="0070C0"/>
              </a:solidFill>
            </a:endParaRPr>
          </a:p>
          <a:p>
            <a:pPr marL="285750" lvl="0" indent="-285750" algn="l" defTabSz="914400" eaLnBrk="0" fontAlgn="base" hangingPunct="0">
              <a:spcBef>
                <a:spcPct val="0"/>
              </a:spcBef>
              <a:spcAft>
                <a:spcPct val="0"/>
              </a:spcAft>
              <a:buClrTx/>
              <a:buSzTx/>
              <a:buFont typeface="Arial" panose="020B0604020202020204" pitchFamily="34" charset="0"/>
              <a:buChar char="•"/>
            </a:pPr>
            <a:r>
              <a:rPr lang="en-US" altLang="en-US" sz="2400" dirty="0">
                <a:solidFill>
                  <a:schemeClr val="tx1"/>
                </a:solidFill>
              </a:rPr>
              <a:t>Logistic Regression</a:t>
            </a:r>
          </a:p>
          <a:p>
            <a:pPr lvl="0" algn="l" defTabSz="914400" eaLnBrk="0" fontAlgn="base" hangingPunct="0">
              <a:spcBef>
                <a:spcPct val="0"/>
              </a:spcBef>
              <a:spcAft>
                <a:spcPct val="0"/>
              </a:spcAft>
              <a:buClrTx/>
              <a:buSzTx/>
            </a:pPr>
            <a:endParaRPr lang="en-US" altLang="en-US" sz="2400" dirty="0">
              <a:solidFill>
                <a:schemeClr val="tx1"/>
              </a:solidFill>
            </a:endParaRPr>
          </a:p>
          <a:p>
            <a:pPr marL="285750" lvl="0" indent="-285750" algn="l" defTabSz="914400" eaLnBrk="0" fontAlgn="base" hangingPunct="0">
              <a:spcBef>
                <a:spcPct val="0"/>
              </a:spcBef>
              <a:spcAft>
                <a:spcPct val="0"/>
              </a:spcAft>
              <a:buClrTx/>
              <a:buSzTx/>
              <a:buFont typeface="Arial" panose="020B0604020202020204" pitchFamily="34" charset="0"/>
              <a:buChar char="•"/>
            </a:pPr>
            <a:r>
              <a:rPr lang="en-US" altLang="en-US" sz="2400" dirty="0">
                <a:solidFill>
                  <a:schemeClr val="tx1"/>
                </a:solidFill>
              </a:rPr>
              <a:t>Decision Tree</a:t>
            </a:r>
          </a:p>
          <a:p>
            <a:pPr lvl="0" algn="l" defTabSz="914400" eaLnBrk="0" fontAlgn="base" hangingPunct="0">
              <a:spcBef>
                <a:spcPct val="0"/>
              </a:spcBef>
              <a:spcAft>
                <a:spcPct val="0"/>
              </a:spcAft>
              <a:buClrTx/>
              <a:buSzTx/>
            </a:pPr>
            <a:endParaRPr lang="en-US" altLang="en-US" sz="2400" dirty="0">
              <a:solidFill>
                <a:schemeClr val="tx1"/>
              </a:solidFill>
            </a:endParaRPr>
          </a:p>
          <a:p>
            <a:pPr marL="285750" lvl="0" indent="-285750" algn="l" defTabSz="914400" eaLnBrk="0" fontAlgn="base" hangingPunct="0">
              <a:spcBef>
                <a:spcPct val="0"/>
              </a:spcBef>
              <a:spcAft>
                <a:spcPct val="0"/>
              </a:spcAft>
              <a:buClrTx/>
              <a:buSzTx/>
              <a:buFont typeface="Arial" panose="020B0604020202020204" pitchFamily="34" charset="0"/>
              <a:buChar char="•"/>
            </a:pPr>
            <a:r>
              <a:rPr lang="en-US" altLang="en-US" sz="2400" dirty="0">
                <a:solidFill>
                  <a:schemeClr val="tx1"/>
                </a:solidFill>
              </a:rPr>
              <a:t>KNN (K-Nearest Neighbor)</a:t>
            </a:r>
          </a:p>
          <a:p>
            <a:pPr lvl="0" algn="l" defTabSz="914400" eaLnBrk="0" fontAlgn="base" hangingPunct="0">
              <a:spcBef>
                <a:spcPct val="0"/>
              </a:spcBef>
              <a:spcAft>
                <a:spcPct val="0"/>
              </a:spcAft>
              <a:buClrTx/>
              <a:buSzTx/>
            </a:pPr>
            <a:endParaRPr lang="en-US" altLang="en-US" sz="2400" dirty="0">
              <a:solidFill>
                <a:schemeClr val="tx1"/>
              </a:solidFill>
            </a:endParaRPr>
          </a:p>
          <a:p>
            <a:pPr marL="285750" lvl="0" indent="-285750" algn="l" defTabSz="914400" eaLnBrk="0" fontAlgn="base" hangingPunct="0">
              <a:spcBef>
                <a:spcPct val="0"/>
              </a:spcBef>
              <a:spcAft>
                <a:spcPct val="0"/>
              </a:spcAft>
              <a:buClrTx/>
              <a:buSzTx/>
              <a:buFont typeface="Arial" panose="020B0604020202020204" pitchFamily="34" charset="0"/>
              <a:buChar char="•"/>
            </a:pPr>
            <a:r>
              <a:rPr lang="en-US" altLang="en-US" sz="2400" dirty="0">
                <a:solidFill>
                  <a:schemeClr val="tx1"/>
                </a:solidFill>
              </a:rPr>
              <a:t>K-Means Clustering</a:t>
            </a:r>
            <a:endParaRPr kumimoji="0" lang="en-US" altLang="en-US" sz="2400" b="0" i="0" u="none" strike="noStrike" cap="none" normalizeH="0" baseline="0" dirty="0">
              <a:ln>
                <a:noFill/>
              </a:ln>
              <a:solidFill>
                <a:schemeClr val="tx1"/>
              </a:solidFill>
              <a:effectLst/>
            </a:endParaRPr>
          </a:p>
        </p:txBody>
      </p:sp>
      <p:pic>
        <p:nvPicPr>
          <p:cNvPr id="5" name="Picture 4" descr="OIP.jpg">
            <a:extLst>
              <a:ext uri="{FF2B5EF4-FFF2-40B4-BE49-F238E27FC236}">
                <a16:creationId xmlns:a16="http://schemas.microsoft.com/office/drawing/2014/main" id="{44415E9D-36F4-E6AF-0C88-9C03AEF924E3}"/>
              </a:ext>
            </a:extLst>
          </p:cNvPr>
          <p:cNvPicPr>
            <a:picLocks noChangeAspect="1"/>
          </p:cNvPicPr>
          <p:nvPr/>
        </p:nvPicPr>
        <p:blipFill>
          <a:blip r:embed="rId2"/>
          <a:stretch>
            <a:fillRect/>
          </a:stretch>
        </p:blipFill>
        <p:spPr>
          <a:xfrm>
            <a:off x="7498079" y="182880"/>
            <a:ext cx="919480" cy="914400"/>
          </a:xfrm>
          <a:prstGeom prst="rect">
            <a:avLst/>
          </a:prstGeom>
        </p:spPr>
      </p:pic>
    </p:spTree>
    <p:extLst>
      <p:ext uri="{BB962C8B-B14F-4D97-AF65-F5344CB8AC3E}">
        <p14:creationId xmlns:p14="http://schemas.microsoft.com/office/powerpoint/2010/main" val="403584211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5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49B8D-30BA-4CF5-6E92-2824570DEF9B}"/>
              </a:ext>
            </a:extLst>
          </p:cNvPr>
          <p:cNvSpPr>
            <a:spLocks noGrp="1"/>
          </p:cNvSpPr>
          <p:nvPr>
            <p:ph type="title"/>
          </p:nvPr>
        </p:nvSpPr>
        <p:spPr>
          <a:xfrm>
            <a:off x="609600" y="609600"/>
            <a:ext cx="4550230" cy="715347"/>
          </a:xfrm>
        </p:spPr>
        <p:txBody>
          <a:bodyPr/>
          <a:lstStyle/>
          <a:p>
            <a:r>
              <a:rPr lang="en-US" dirty="0">
                <a:solidFill>
                  <a:srgbClr val="0070C0"/>
                </a:solidFill>
              </a:rPr>
              <a:t>Decision Tree</a:t>
            </a:r>
            <a:endParaRPr lang="en-IN" dirty="0">
              <a:solidFill>
                <a:srgbClr val="0070C0"/>
              </a:solidFill>
            </a:endParaRPr>
          </a:p>
        </p:txBody>
      </p:sp>
      <p:pic>
        <p:nvPicPr>
          <p:cNvPr id="5" name="Content Placeholder 4">
            <a:extLst>
              <a:ext uri="{FF2B5EF4-FFF2-40B4-BE49-F238E27FC236}">
                <a16:creationId xmlns:a16="http://schemas.microsoft.com/office/drawing/2014/main" id="{C7CCA39F-B1E8-57A0-ACE8-C3BDABB0AA90}"/>
              </a:ext>
            </a:extLst>
          </p:cNvPr>
          <p:cNvPicPr>
            <a:picLocks noGrp="1" noChangeAspect="1"/>
          </p:cNvPicPr>
          <p:nvPr>
            <p:ph idx="1"/>
          </p:nvPr>
        </p:nvPicPr>
        <p:blipFill>
          <a:blip r:embed="rId2"/>
          <a:srcRect l="24496" t="29774" r="32881" b="34465"/>
          <a:stretch>
            <a:fillRect/>
          </a:stretch>
        </p:blipFill>
        <p:spPr>
          <a:xfrm>
            <a:off x="1281830" y="3265714"/>
            <a:ext cx="5837427" cy="2754888"/>
          </a:xfrm>
          <a:prstGeom prst="rect">
            <a:avLst/>
          </a:prstGeom>
        </p:spPr>
      </p:pic>
      <p:sp>
        <p:nvSpPr>
          <p:cNvPr id="6" name="TextBox 5">
            <a:extLst>
              <a:ext uri="{FF2B5EF4-FFF2-40B4-BE49-F238E27FC236}">
                <a16:creationId xmlns:a16="http://schemas.microsoft.com/office/drawing/2014/main" id="{40EAC508-0027-EE80-841C-724DE9C27BA4}"/>
              </a:ext>
            </a:extLst>
          </p:cNvPr>
          <p:cNvSpPr txBox="1"/>
          <p:nvPr/>
        </p:nvSpPr>
        <p:spPr>
          <a:xfrm>
            <a:off x="238858" y="1520889"/>
            <a:ext cx="6746655" cy="1754326"/>
          </a:xfrm>
          <a:prstGeom prst="rect">
            <a:avLst/>
          </a:prstGeom>
          <a:noFill/>
        </p:spPr>
        <p:txBody>
          <a:bodyPr wrap="none" rtlCol="0">
            <a:spAutoFit/>
          </a:bodyPr>
          <a:lstStyle/>
          <a:p>
            <a:pPr marL="285750" indent="-285750" algn="just">
              <a:buFont typeface="Arial" panose="020B0604020202020204" pitchFamily="34" charset="0"/>
              <a:buChar char="•"/>
            </a:pPr>
            <a:r>
              <a:rPr lang="en-US" dirty="0"/>
              <a:t>The Decision Tree is used to classify different types of waste</a:t>
            </a:r>
          </a:p>
          <a:p>
            <a:pPr algn="just"/>
            <a:r>
              <a:rPr lang="en-US" dirty="0"/>
              <a:t>    such as plastic, metal, paper, and organic waste. </a:t>
            </a:r>
          </a:p>
          <a:p>
            <a:pPr marL="285750" indent="-285750" algn="just">
              <a:buFont typeface="Arial" panose="020B0604020202020204" pitchFamily="34" charset="0"/>
              <a:buChar char="•"/>
            </a:pPr>
            <a:r>
              <a:rPr lang="en-US" dirty="0"/>
              <a:t>It works by creating a tree-like structure </a:t>
            </a:r>
          </a:p>
          <a:p>
            <a:pPr algn="just"/>
            <a:r>
              <a:rPr lang="en-US" dirty="0"/>
              <a:t>    where each internal node represents a decision based on a </a:t>
            </a:r>
          </a:p>
          <a:p>
            <a:pPr algn="just"/>
            <a:r>
              <a:rPr lang="en-US" dirty="0"/>
              <a:t>    feature.</a:t>
            </a:r>
          </a:p>
          <a:p>
            <a:pPr algn="just"/>
            <a:endParaRPr lang="en-IN" dirty="0"/>
          </a:p>
        </p:txBody>
      </p:sp>
    </p:spTree>
    <p:extLst>
      <p:ext uri="{BB962C8B-B14F-4D97-AF65-F5344CB8AC3E}">
        <p14:creationId xmlns:p14="http://schemas.microsoft.com/office/powerpoint/2010/main" val="18458242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5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4398-C8EE-C877-628A-D384277AB682}"/>
              </a:ext>
            </a:extLst>
          </p:cNvPr>
          <p:cNvSpPr>
            <a:spLocks noGrp="1"/>
          </p:cNvSpPr>
          <p:nvPr>
            <p:ph type="title"/>
          </p:nvPr>
        </p:nvSpPr>
        <p:spPr/>
        <p:txBody>
          <a:bodyPr/>
          <a:lstStyle/>
          <a:p>
            <a:r>
              <a:rPr lang="en-IN" dirty="0"/>
              <a:t>K-Nearest Neighbours (KNN)</a:t>
            </a:r>
          </a:p>
        </p:txBody>
      </p:sp>
      <p:sp>
        <p:nvSpPr>
          <p:cNvPr id="3" name="Content Placeholder 2">
            <a:extLst>
              <a:ext uri="{FF2B5EF4-FFF2-40B4-BE49-F238E27FC236}">
                <a16:creationId xmlns:a16="http://schemas.microsoft.com/office/drawing/2014/main" id="{87B7385D-A425-DF2D-D7A1-468DD4CA3F13}"/>
              </a:ext>
            </a:extLst>
          </p:cNvPr>
          <p:cNvSpPr>
            <a:spLocks noGrp="1"/>
          </p:cNvSpPr>
          <p:nvPr>
            <p:ph idx="1"/>
          </p:nvPr>
        </p:nvSpPr>
        <p:spPr/>
        <p:txBody>
          <a:bodyPr>
            <a:normAutofit/>
          </a:bodyPr>
          <a:lstStyle/>
          <a:p>
            <a:r>
              <a:rPr lang="en-US" dirty="0"/>
              <a:t>KNN classifies an object by looking at the </a:t>
            </a:r>
            <a:r>
              <a:rPr lang="en-US" b="1" dirty="0"/>
              <a:t>closest similar examples</a:t>
            </a:r>
            <a:r>
              <a:rPr lang="en-US" dirty="0"/>
              <a:t> and deciding which category it belongs to.</a:t>
            </a:r>
          </a:p>
          <a:p>
            <a:pPr marL="0" indent="0">
              <a:buNone/>
            </a:pPr>
            <a:endParaRPr lang="en-US" dirty="0"/>
          </a:p>
        </p:txBody>
      </p:sp>
      <p:pic>
        <p:nvPicPr>
          <p:cNvPr id="5" name="Picture 4">
            <a:extLst>
              <a:ext uri="{FF2B5EF4-FFF2-40B4-BE49-F238E27FC236}">
                <a16:creationId xmlns:a16="http://schemas.microsoft.com/office/drawing/2014/main" id="{475D40BA-5AF6-2702-F495-631E46C75F6D}"/>
              </a:ext>
            </a:extLst>
          </p:cNvPr>
          <p:cNvPicPr>
            <a:picLocks noChangeAspect="1"/>
          </p:cNvPicPr>
          <p:nvPr/>
        </p:nvPicPr>
        <p:blipFill>
          <a:blip r:embed="rId2"/>
          <a:srcRect l="28164" t="25666" r="32143" b="22880"/>
          <a:stretch>
            <a:fillRect/>
          </a:stretch>
        </p:blipFill>
        <p:spPr>
          <a:xfrm>
            <a:off x="1968650" y="3303037"/>
            <a:ext cx="4189553" cy="3054848"/>
          </a:xfrm>
          <a:prstGeom prst="rect">
            <a:avLst/>
          </a:prstGeom>
        </p:spPr>
      </p:pic>
    </p:spTree>
    <p:extLst>
      <p:ext uri="{BB962C8B-B14F-4D97-AF65-F5344CB8AC3E}">
        <p14:creationId xmlns:p14="http://schemas.microsoft.com/office/powerpoint/2010/main" val="50408509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5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2864-DA19-279E-E198-A8D356019132}"/>
              </a:ext>
            </a:extLst>
          </p:cNvPr>
          <p:cNvSpPr>
            <a:spLocks noGrp="1"/>
          </p:cNvSpPr>
          <p:nvPr>
            <p:ph type="title"/>
          </p:nvPr>
        </p:nvSpPr>
        <p:spPr/>
        <p:txBody>
          <a:bodyPr/>
          <a:lstStyle/>
          <a:p>
            <a:r>
              <a:rPr lang="en-IN" dirty="0"/>
              <a:t>K-Means Clustering</a:t>
            </a:r>
          </a:p>
        </p:txBody>
      </p:sp>
      <p:sp>
        <p:nvSpPr>
          <p:cNvPr id="3" name="Content Placeholder 2">
            <a:extLst>
              <a:ext uri="{FF2B5EF4-FFF2-40B4-BE49-F238E27FC236}">
                <a16:creationId xmlns:a16="http://schemas.microsoft.com/office/drawing/2014/main" id="{6F1F55EB-40CD-548A-90BF-9CBEDA53AF42}"/>
              </a:ext>
            </a:extLst>
          </p:cNvPr>
          <p:cNvSpPr>
            <a:spLocks noGrp="1"/>
          </p:cNvSpPr>
          <p:nvPr>
            <p:ph idx="1"/>
          </p:nvPr>
        </p:nvSpPr>
        <p:spPr/>
        <p:txBody>
          <a:bodyPr>
            <a:normAutofit lnSpcReduction="10000"/>
          </a:bodyPr>
          <a:lstStyle/>
          <a:p>
            <a:r>
              <a:rPr lang="en-US" dirty="0"/>
              <a:t>K-Means clustering helps the system automatically group waste items with similar characteristics such as color, texture, and shape.</a:t>
            </a:r>
          </a:p>
          <a:p>
            <a:r>
              <a:rPr lang="en-US" b="1" dirty="0"/>
              <a:t>Simple Example</a:t>
            </a:r>
          </a:p>
          <a:p>
            <a:pPr marL="0" indent="0">
              <a:buNone/>
            </a:pPr>
            <a:r>
              <a:rPr lang="en-US" dirty="0"/>
              <a:t>     If K = 4, the algorithm may create 4 clusters:</a:t>
            </a:r>
          </a:p>
          <a:p>
            <a:pPr marL="0" indent="0">
              <a:buNone/>
            </a:pPr>
            <a:r>
              <a:rPr lang="en-US" dirty="0"/>
              <a:t>     Cluster 1 → Plastic</a:t>
            </a:r>
          </a:p>
          <a:p>
            <a:pPr marL="0" indent="0">
              <a:buNone/>
            </a:pPr>
            <a:r>
              <a:rPr lang="en-US" dirty="0"/>
              <a:t>     Cluster 2 → Metal</a:t>
            </a:r>
          </a:p>
          <a:p>
            <a:pPr marL="0" indent="0">
              <a:buNone/>
            </a:pPr>
            <a:r>
              <a:rPr lang="en-US" dirty="0"/>
              <a:t>     Cluster 3 → Paper</a:t>
            </a:r>
          </a:p>
          <a:p>
            <a:pPr marL="0" indent="0">
              <a:buNone/>
            </a:pPr>
            <a:r>
              <a:rPr lang="en-US" dirty="0"/>
              <a:t>     Cluster 4 → Organic</a:t>
            </a:r>
          </a:p>
          <a:p>
            <a:pPr marL="0" indent="0">
              <a:buNone/>
            </a:pPr>
            <a:r>
              <a:rPr lang="en-US" dirty="0"/>
              <a:t>This helps the waste sorting system automatically organize waste into the correct category. ♻️</a:t>
            </a:r>
          </a:p>
          <a:p>
            <a:endParaRPr lang="en-IN" dirty="0"/>
          </a:p>
        </p:txBody>
      </p:sp>
    </p:spTree>
    <p:extLst>
      <p:ext uri="{BB962C8B-B14F-4D97-AF65-F5344CB8AC3E}">
        <p14:creationId xmlns:p14="http://schemas.microsoft.com/office/powerpoint/2010/main" val="259845551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solidFill>
                  <a:srgbClr val="0066CC"/>
                </a:solidFill>
              </a:defRPr>
            </a:pPr>
            <a:r>
              <a:rPr lang="en-US" sz="3200" b="1" dirty="0"/>
              <a:t> </a:t>
            </a:r>
            <a:r>
              <a:rPr sz="3200" b="1" dirty="0"/>
              <a:t>User Benefits</a:t>
            </a:r>
          </a:p>
        </p:txBody>
      </p:sp>
      <p:sp>
        <p:nvSpPr>
          <p:cNvPr id="3" name="Content Placeholder 2"/>
          <p:cNvSpPr>
            <a:spLocks noGrp="1"/>
          </p:cNvSpPr>
          <p:nvPr>
            <p:ph idx="1"/>
          </p:nvPr>
        </p:nvSpPr>
        <p:spPr>
          <a:xfrm>
            <a:off x="712235" y="1275218"/>
            <a:ext cx="6714931" cy="5470815"/>
          </a:xfrm>
        </p:spPr>
        <p:txBody>
          <a:bodyPr>
            <a:normAutofit fontScale="77500" lnSpcReduction="20000"/>
          </a:bodyPr>
          <a:lstStyle/>
          <a:p>
            <a:pPr>
              <a:defRPr sz="1800"/>
            </a:pPr>
            <a:r>
              <a:rPr lang="en-US" sz="2300" dirty="0"/>
              <a:t> </a:t>
            </a:r>
            <a:r>
              <a:rPr sz="2300" dirty="0"/>
              <a:t>Easy recycling</a:t>
            </a:r>
          </a:p>
          <a:p>
            <a:pPr>
              <a:defRPr sz="1800"/>
            </a:pPr>
            <a:r>
              <a:rPr sz="2300" dirty="0"/>
              <a:t> Less confusion</a:t>
            </a:r>
          </a:p>
          <a:p>
            <a:pPr>
              <a:defRPr sz="1800"/>
            </a:pPr>
            <a:r>
              <a:rPr sz="2300" dirty="0"/>
              <a:t> Clean environment</a:t>
            </a:r>
            <a:endParaRPr lang="en-IN" sz="2300" dirty="0"/>
          </a:p>
          <a:p>
            <a:pPr marL="0" indent="0">
              <a:buNone/>
              <a:defRPr sz="1800"/>
            </a:pPr>
            <a:r>
              <a:rPr lang="en-IN" sz="2600" b="1" dirty="0">
                <a:solidFill>
                  <a:srgbClr val="0070C0"/>
                </a:solidFill>
              </a:rPr>
              <a:t> </a:t>
            </a:r>
            <a:r>
              <a:rPr lang="en-IN" sz="4100" b="1" dirty="0">
                <a:solidFill>
                  <a:srgbClr val="0070C0"/>
                </a:solidFill>
                <a:latin typeface="+mj-lt"/>
              </a:rPr>
              <a:t>ASUMPSTIONS:</a:t>
            </a:r>
          </a:p>
          <a:p>
            <a:pPr fontAlgn="base"/>
            <a:r>
              <a:rPr lang="en-US" sz="2300" dirty="0"/>
              <a:t>User wants to sort waste.​</a:t>
            </a:r>
          </a:p>
          <a:p>
            <a:pPr fontAlgn="base"/>
            <a:r>
              <a:rPr lang="en-US" sz="2300" dirty="0"/>
              <a:t>Smartphone &amp; internet access in target areas.​</a:t>
            </a:r>
          </a:p>
          <a:p>
            <a:pPr fontAlgn="base"/>
            <a:r>
              <a:rPr lang="en-US" sz="2300" dirty="0"/>
              <a:t>Basic education for visual instructions.​</a:t>
            </a:r>
          </a:p>
          <a:p>
            <a:pPr fontAlgn="base"/>
            <a:r>
              <a:rPr lang="en-US" sz="2300" dirty="0"/>
              <a:t>Accurate third-party data (municipalities, centers).​</a:t>
            </a:r>
          </a:p>
          <a:p>
            <a:pPr fontAlgn="base"/>
            <a:r>
              <a:rPr lang="en-US" sz="2300" dirty="0"/>
              <a:t>Standard waste categories (Organic, Plastic, etc.).​</a:t>
            </a:r>
          </a:p>
          <a:p>
            <a:pPr marL="0" indent="0" fontAlgn="base">
              <a:buNone/>
            </a:pPr>
            <a:r>
              <a:rPr lang="en-US" sz="4100" b="1" dirty="0">
                <a:solidFill>
                  <a:srgbClr val="0070C0"/>
                </a:solidFill>
                <a:latin typeface="+mj-lt"/>
              </a:rPr>
              <a:t>Dependencies:</a:t>
            </a:r>
          </a:p>
          <a:p>
            <a:pPr fontAlgn="base"/>
            <a:r>
              <a:rPr lang="en-US" sz="2100" dirty="0"/>
              <a:t>Robust SQL database availability.​</a:t>
            </a:r>
          </a:p>
          <a:p>
            <a:pPr fontAlgn="base"/>
            <a:r>
              <a:rPr lang="en-US" sz="2100" dirty="0"/>
              <a:t>Modern web browser compatibility.​</a:t>
            </a:r>
          </a:p>
          <a:p>
            <a:pPr fontAlgn="base"/>
            <a:r>
              <a:rPr lang="en-US" sz="2100" dirty="0"/>
              <a:t>Active internet connectivity.​</a:t>
            </a:r>
          </a:p>
          <a:p>
            <a:pPr fontAlgn="base"/>
            <a:r>
              <a:rPr lang="en-US" sz="2100" dirty="0"/>
              <a:t>External APIs (maps, AI image recognition).​</a:t>
            </a:r>
          </a:p>
          <a:p>
            <a:pPr fontAlgn="base"/>
            <a:r>
              <a:rPr lang="en-US" sz="2100" dirty="0"/>
              <a:t>Local recycling infrastructure cooperation.​</a:t>
            </a:r>
          </a:p>
          <a:p>
            <a:pPr fontAlgn="base"/>
            <a:endParaRPr lang="en-US" dirty="0"/>
          </a:p>
          <a:p>
            <a:pPr>
              <a:defRPr sz="1800"/>
            </a:pPr>
            <a:endParaRPr dirty="0"/>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rPr dirty="0"/>
              <a:t>Future Scope</a:t>
            </a:r>
          </a:p>
        </p:txBody>
      </p:sp>
      <p:sp>
        <p:nvSpPr>
          <p:cNvPr id="3" name="Content Placeholder 2"/>
          <p:cNvSpPr>
            <a:spLocks noGrp="1"/>
          </p:cNvSpPr>
          <p:nvPr>
            <p:ph idx="1"/>
          </p:nvPr>
        </p:nvSpPr>
        <p:spPr/>
        <p:txBody>
          <a:bodyPr>
            <a:normAutofit/>
          </a:bodyPr>
          <a:lstStyle/>
          <a:p>
            <a:pPr>
              <a:defRPr sz="1800"/>
            </a:pPr>
            <a:r>
              <a:rPr lang="en-US" sz="2400" dirty="0"/>
              <a:t> Live </a:t>
            </a:r>
            <a:r>
              <a:rPr sz="2400" dirty="0"/>
              <a:t>AI image detection</a:t>
            </a:r>
          </a:p>
          <a:p>
            <a:pPr>
              <a:defRPr sz="1800"/>
            </a:pPr>
            <a:r>
              <a:rPr sz="2400" dirty="0"/>
              <a:t> Mobile App</a:t>
            </a:r>
          </a:p>
          <a:p>
            <a:pPr>
              <a:defRPr sz="1800"/>
            </a:pPr>
            <a:r>
              <a:rPr lang="en-US" sz="2400" dirty="0"/>
              <a:t> </a:t>
            </a:r>
            <a:r>
              <a:rPr sz="2400" dirty="0"/>
              <a:t>Government link</a:t>
            </a:r>
          </a:p>
          <a:p>
            <a:pPr>
              <a:defRPr sz="1800"/>
            </a:pPr>
            <a:r>
              <a:rPr sz="2400" dirty="0"/>
              <a:t> Reward system</a:t>
            </a:r>
          </a:p>
        </p:txBody>
      </p:sp>
      <p:pic>
        <p:nvPicPr>
          <p:cNvPr id="4" name="Picture 3"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0066CC"/>
                </a:solidFill>
              </a:defRPr>
            </a:pPr>
            <a:r>
              <a:t>Recycling Improvement</a:t>
            </a:r>
          </a:p>
        </p:txBody>
      </p:sp>
      <p:graphicFrame>
        <p:nvGraphicFramePr>
          <p:cNvPr id="3" name="Chart 2"/>
          <p:cNvGraphicFramePr>
            <a:graphicFrameLocks noGrp="1"/>
          </p:cNvGraphicFramePr>
          <p:nvPr/>
        </p:nvGraphicFramePr>
        <p:xfrm>
          <a:off x="1828800" y="2286000"/>
          <a:ext cx="5486400" cy="3657600"/>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descr="OIP.jpg"/>
          <p:cNvPicPr>
            <a:picLocks noChangeAspect="1"/>
          </p:cNvPicPr>
          <p:nvPr/>
        </p:nvPicPr>
        <p:blipFill>
          <a:blip r:embed="rId3"/>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F5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26839" y="2923591"/>
            <a:ext cx="6347714" cy="1320800"/>
          </a:xfrm>
        </p:spPr>
        <p:txBody>
          <a:bodyPr/>
          <a:lstStyle/>
          <a:p>
            <a:pPr algn="ctr">
              <a:defRPr sz="4000">
                <a:solidFill>
                  <a:srgbClr val="0066CC"/>
                </a:solidFill>
              </a:defRPr>
            </a:pPr>
            <a:r>
              <a:rPr dirty="0"/>
              <a:t>THANK YOU</a:t>
            </a:r>
          </a:p>
        </p:txBody>
      </p:sp>
      <p:pic>
        <p:nvPicPr>
          <p:cNvPr id="3" name="Picture 2" descr="OIP.jpg"/>
          <p:cNvPicPr>
            <a:picLocks noChangeAspect="1"/>
          </p:cNvPicPr>
          <p:nvPr/>
        </p:nvPicPr>
        <p:blipFill>
          <a:blip r:embed="rId2"/>
          <a:stretch>
            <a:fillRect/>
          </a:stretch>
        </p:blipFill>
        <p:spPr>
          <a:xfrm>
            <a:off x="7498079" y="182880"/>
            <a:ext cx="91948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625</TotalTime>
  <Words>671</Words>
  <Application>Microsoft Office PowerPoint</Application>
  <PresentationFormat>On-screen Show (4:3)</PresentationFormat>
  <Paragraphs>118</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Algerian</vt:lpstr>
      <vt:lpstr>Arial</vt:lpstr>
      <vt:lpstr>Calibri</vt:lpstr>
      <vt:lpstr>Trebuchet MS</vt:lpstr>
      <vt:lpstr>Wingdings 3</vt:lpstr>
      <vt:lpstr>Facet</vt:lpstr>
      <vt:lpstr>Waste Sorting Assistance For Recycling</vt:lpstr>
      <vt:lpstr>Abstract</vt:lpstr>
      <vt:lpstr>Problem Statement</vt:lpstr>
      <vt:lpstr>Aim</vt:lpstr>
      <vt:lpstr>Objectives</vt:lpstr>
      <vt:lpstr>Proposed Solution</vt:lpstr>
      <vt:lpstr>Key Features</vt:lpstr>
      <vt:lpstr>Project Working Flow</vt:lpstr>
      <vt:lpstr>Technologies</vt:lpstr>
      <vt:lpstr>Algorithms Used </vt:lpstr>
      <vt:lpstr>Decision Tree</vt:lpstr>
      <vt:lpstr>K-Nearest Neighbours (KNN)</vt:lpstr>
      <vt:lpstr>K-Means Clustering</vt:lpstr>
      <vt:lpstr> User Benefits</vt:lpstr>
      <vt:lpstr>Future Scope</vt:lpstr>
      <vt:lpstr>Recycling Improvement</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GAURAV PANDEY</dc:creator>
  <cp:keywords/>
  <dc:description>generated using python-pptx</dc:description>
  <cp:lastModifiedBy>Prajapati, Biren Sanjay</cp:lastModifiedBy>
  <cp:revision>18</cp:revision>
  <dcterms:created xsi:type="dcterms:W3CDTF">2013-01-27T09:14:16Z</dcterms:created>
  <dcterms:modified xsi:type="dcterms:W3CDTF">2026-03-13T07:25:08Z</dcterms:modified>
  <cp:category/>
</cp:coreProperties>
</file>